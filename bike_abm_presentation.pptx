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693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3716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91440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Network Connectivity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More Than Coverage?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65760" y="2606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Bike Lane Effects on Cycling Adoption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Research Question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bike lane </a:t>
            </a: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have a greater effect on cycling mode share than total lane </a:t>
            </a: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70520" y="1920240"/>
            <a:ext cx="3800957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8417" y="2580063"/>
            <a:ext cx="3503060" cy="10194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much shorter connected lane structure results in as many commuters biking as a longer total milage lane set up, this is important to know from a policy/urban planning perspective. </a:t>
            </a:r>
          </a:p>
        </p:txBody>
      </p:sp>
      <p:sp>
        <p:nvSpPr>
          <p:cNvPr id="14" name="Shape 10"/>
          <p:cNvSpPr/>
          <p:nvPr/>
        </p:nvSpPr>
        <p:spPr>
          <a:xfrm>
            <a:off x="4505422" y="1920240"/>
            <a:ext cx="428196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806268" y="2799406"/>
            <a:ext cx="37890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observation among commuters amplifies infrastructure-induced mode shift.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FD6D3-8D03-D2ED-21B1-3E3710D8444F}"/>
              </a:ext>
            </a:extLst>
          </p:cNvPr>
          <p:cNvSpPr txBox="1"/>
          <p:nvPr/>
        </p:nvSpPr>
        <p:spPr>
          <a:xfrm>
            <a:off x="9121329" y="1662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Environment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862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866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870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4874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0876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6878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2880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8882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4884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30886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6888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62890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8892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4894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0896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68980" y="7772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862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866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6868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2870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8872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34874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50876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66878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82880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98882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14884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30886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46888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62890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8892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94894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10896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68980" y="9372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2860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8862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4864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0866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6868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2870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8872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34874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50876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66878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82880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98882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14884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30886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46888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62890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78892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94894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10896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268980" y="10972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2860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8862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4864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0866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6868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02870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18872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34874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50876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66878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82880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98882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14884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30886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46888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62890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78892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94894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310896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3268980" y="12573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2860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38862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54864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70866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6868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02870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18872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34874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50876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66878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828800" y="1417320"/>
            <a:ext cx="150876" cy="150876"/>
          </a:xfrm>
          <a:prstGeom prst="rect">
            <a:avLst/>
          </a:prstGeom>
          <a:solidFill>
            <a:srgbClr val="02C39A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198882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14884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30886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46888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262890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278892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94894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310896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3268980" y="14173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2860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38862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54864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70866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6868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02870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118872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134874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50876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66878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828800" y="1577340"/>
            <a:ext cx="150876" cy="150876"/>
          </a:xfrm>
          <a:prstGeom prst="rect">
            <a:avLst/>
          </a:prstGeom>
          <a:solidFill>
            <a:srgbClr val="02C39A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198882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214884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230886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246888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262890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278892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294894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10896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3268980" y="15773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22860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38862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54864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70866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86868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102870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118872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134874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1508760" y="173736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1668780" y="173736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1828800" y="173736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1988820" y="173736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214884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230886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246888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262890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278892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294894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310896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3268980" y="17373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228600" y="18973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388620" y="18973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548640" y="18973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708660" y="18973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868680" y="18973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1028700" y="18973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1188720" y="18973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1348740" y="189738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1508760" y="189738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1668780" y="189738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1828800" y="189738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1988820" y="189738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2148840" y="189738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2308860" y="18973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2468880" y="18973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2628900" y="18973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2788920" y="18973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2948940" y="18973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3108960" y="18973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3268980" y="18973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228600" y="20574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388620" y="20574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548640" y="20574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708660" y="20574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868680" y="20574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1028700" y="20574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1188720" y="205740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1348740" y="205740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1508760" y="205740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1668780" y="205740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1828800" y="205740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1988820" y="205740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2148840" y="205740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2308860" y="205740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2468880" y="20574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2628900" y="20574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2788920" y="20574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2948940" y="20574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3108960" y="20574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3268980" y="20574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228600" y="22174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388620" y="22174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548640" y="22174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708660" y="22174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868680" y="22174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1028700" y="22174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1188720" y="221742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1348740" y="221742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1508760" y="221742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1668780" y="221742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1828800" y="221742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1988820" y="221742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2148840" y="221742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2308860" y="221742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2468880" y="22174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2628900" y="22174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2788920" y="22174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2948940" y="22174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3108960" y="22174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3268980" y="22174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228600" y="23774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388620" y="23774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548640" y="23774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708660" y="23774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868680" y="2377440"/>
            <a:ext cx="150876" cy="150876"/>
          </a:xfrm>
          <a:prstGeom prst="rect">
            <a:avLst/>
          </a:prstGeom>
          <a:solidFill>
            <a:srgbClr val="02C39A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1028700" y="2377440"/>
            <a:ext cx="150876" cy="150876"/>
          </a:xfrm>
          <a:prstGeom prst="rect">
            <a:avLst/>
          </a:prstGeom>
          <a:solidFill>
            <a:srgbClr val="02C39A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1188720" y="237744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1348740" y="237744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1508760" y="237744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1668780" y="237744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1828800" y="237744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1988820" y="237744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2148840" y="237744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2308860" y="237744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2468880" y="2377440"/>
            <a:ext cx="150876" cy="150876"/>
          </a:xfrm>
          <a:prstGeom prst="rect">
            <a:avLst/>
          </a:prstGeom>
          <a:solidFill>
            <a:srgbClr val="02C39A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2628900" y="2377440"/>
            <a:ext cx="150876" cy="150876"/>
          </a:xfrm>
          <a:prstGeom prst="rect">
            <a:avLst/>
          </a:prstGeom>
          <a:solidFill>
            <a:srgbClr val="02C39A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2788920" y="23774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2948940" y="23774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3108960" y="23774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3268980" y="23774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228600" y="25374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388620" y="25374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548640" y="25374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708660" y="25374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868680" y="25374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1028700" y="25374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1188720" y="253746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1348740" y="253746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1508760" y="253746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1668780" y="253746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1828800" y="253746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1988820" y="253746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2148840" y="253746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2308860" y="253746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2468880" y="25374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2628900" y="25374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2788920" y="25374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2948940" y="25374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3108960" y="25374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3268980" y="25374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228600" y="26974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388620" y="26974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548640" y="26974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708660" y="26974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868680" y="26974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1028700" y="26974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1188720" y="26974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1348740" y="269748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1508760" y="269748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1668780" y="269748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1828800" y="269748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1988820" y="269748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2148840" y="269748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2308860" y="26974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2468880" y="26974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2628900" y="26974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2788920" y="26974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2948940" y="26974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3108960" y="26974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3268980" y="26974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22860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38862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54864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70866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86868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102870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118872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134874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1508760" y="285750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1668780" y="285750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1828800" y="285750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1988820" y="2857500"/>
            <a:ext cx="150876" cy="150876"/>
          </a:xfrm>
          <a:prstGeom prst="rect">
            <a:avLst/>
          </a:prstGeom>
          <a:solidFill>
            <a:srgbClr val="028090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214884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230886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246888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262890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278892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294894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310896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3268980" y="28575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22860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38862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54864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70866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86868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102870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118872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134874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150876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166878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1828800" y="3017520"/>
            <a:ext cx="150876" cy="150876"/>
          </a:xfrm>
          <a:prstGeom prst="rect">
            <a:avLst/>
          </a:prstGeom>
          <a:solidFill>
            <a:srgbClr val="02C39A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198882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214884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230886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246888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262890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278892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294894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310896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3268980" y="30175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22860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38862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54864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70866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86868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102870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118872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134874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150876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166878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1828800" y="3177540"/>
            <a:ext cx="150876" cy="150876"/>
          </a:xfrm>
          <a:prstGeom prst="rect">
            <a:avLst/>
          </a:prstGeom>
          <a:solidFill>
            <a:srgbClr val="02C39A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198882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214884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230886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246888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262890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278892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294894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310896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3268980" y="317754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22860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38862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54864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70866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86868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102870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118872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134874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150876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166878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182880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198882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214884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230886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246888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262890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278892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294894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310896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3268980" y="333756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22860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38862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54864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70866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86868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102870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118872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134874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150876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166878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182880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198882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214884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230886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246888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262890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278892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294894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310896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3268980" y="349758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22860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38862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54864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70866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86868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102870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18872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34874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150876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166878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182880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198882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214884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230886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246888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262890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278892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294894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310896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3268980" y="365760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22860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38862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54864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70866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86868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102870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118872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134874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150876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Shape 391"/>
          <p:cNvSpPr/>
          <p:nvPr/>
        </p:nvSpPr>
        <p:spPr>
          <a:xfrm>
            <a:off x="166878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Shape 392"/>
          <p:cNvSpPr/>
          <p:nvPr/>
        </p:nvSpPr>
        <p:spPr>
          <a:xfrm>
            <a:off x="182880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393"/>
          <p:cNvSpPr/>
          <p:nvPr/>
        </p:nvSpPr>
        <p:spPr>
          <a:xfrm>
            <a:off x="198882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Shape 394"/>
          <p:cNvSpPr/>
          <p:nvPr/>
        </p:nvSpPr>
        <p:spPr>
          <a:xfrm>
            <a:off x="214884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Shape 395"/>
          <p:cNvSpPr/>
          <p:nvPr/>
        </p:nvSpPr>
        <p:spPr>
          <a:xfrm>
            <a:off x="230886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396"/>
          <p:cNvSpPr/>
          <p:nvPr/>
        </p:nvSpPr>
        <p:spPr>
          <a:xfrm>
            <a:off x="246888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397"/>
          <p:cNvSpPr/>
          <p:nvPr/>
        </p:nvSpPr>
        <p:spPr>
          <a:xfrm>
            <a:off x="262890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398"/>
          <p:cNvSpPr/>
          <p:nvPr/>
        </p:nvSpPr>
        <p:spPr>
          <a:xfrm>
            <a:off x="278892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294894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400"/>
          <p:cNvSpPr/>
          <p:nvPr/>
        </p:nvSpPr>
        <p:spPr>
          <a:xfrm>
            <a:off x="310896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401"/>
          <p:cNvSpPr/>
          <p:nvPr/>
        </p:nvSpPr>
        <p:spPr>
          <a:xfrm>
            <a:off x="3268980" y="3817620"/>
            <a:ext cx="150876" cy="150876"/>
          </a:xfrm>
          <a:prstGeom prst="rect">
            <a:avLst/>
          </a:prstGeom>
          <a:solidFill>
            <a:srgbClr val="D6E4E8"/>
          </a:solidFill>
          <a:ln w="3810">
            <a:solidFill>
              <a:srgbClr val="B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 402"/>
          <p:cNvSpPr/>
          <p:nvPr/>
        </p:nvSpPr>
        <p:spPr>
          <a:xfrm>
            <a:off x="228600" y="4617720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Text 403"/>
          <p:cNvSpPr/>
          <p:nvPr/>
        </p:nvSpPr>
        <p:spPr>
          <a:xfrm>
            <a:off x="438912" y="459943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Downtown</a:t>
            </a:r>
            <a:endParaRPr lang="en-US" sz="1000" dirty="0"/>
          </a:p>
        </p:txBody>
      </p:sp>
      <p:sp>
        <p:nvSpPr>
          <p:cNvPr id="406" name="Shape 404"/>
          <p:cNvSpPr/>
          <p:nvPr/>
        </p:nvSpPr>
        <p:spPr>
          <a:xfrm>
            <a:off x="1371600" y="4617720"/>
            <a:ext cx="164592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Text 405"/>
          <p:cNvSpPr/>
          <p:nvPr/>
        </p:nvSpPr>
        <p:spPr>
          <a:xfrm>
            <a:off x="1581912" y="4599432"/>
            <a:ext cx="10378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lanes</a:t>
            </a:r>
            <a:endParaRPr lang="en-US" sz="1000" dirty="0"/>
          </a:p>
        </p:txBody>
      </p:sp>
      <p:sp>
        <p:nvSpPr>
          <p:cNvPr id="408" name="Shape 406"/>
          <p:cNvSpPr/>
          <p:nvPr/>
        </p:nvSpPr>
        <p:spPr>
          <a:xfrm>
            <a:off x="2514600" y="4617720"/>
            <a:ext cx="164592" cy="164592"/>
          </a:xfrm>
          <a:prstGeom prst="rect">
            <a:avLst/>
          </a:prstGeom>
          <a:solidFill>
            <a:srgbClr val="D6E4E8"/>
          </a:solidFill>
          <a:ln w="12700">
            <a:solidFill>
              <a:srgbClr val="D6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Text 407"/>
          <p:cNvSpPr/>
          <p:nvPr/>
        </p:nvSpPr>
        <p:spPr>
          <a:xfrm>
            <a:off x="2724912" y="459943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</a:t>
            </a:r>
            <a:endParaRPr lang="en-US" sz="1000" dirty="0"/>
          </a:p>
        </p:txBody>
      </p:sp>
      <p:sp>
        <p:nvSpPr>
          <p:cNvPr id="410" name="Shape 408"/>
          <p:cNvSpPr/>
          <p:nvPr/>
        </p:nvSpPr>
        <p:spPr>
          <a:xfrm>
            <a:off x="3749040" y="868680"/>
            <a:ext cx="5120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Text 409"/>
          <p:cNvSpPr/>
          <p:nvPr/>
        </p:nvSpPr>
        <p:spPr>
          <a:xfrm>
            <a:off x="3840480" y="868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20×20 grid</a:t>
            </a:r>
            <a:endParaRPr lang="en-US" sz="1100" dirty="0"/>
          </a:p>
        </p:txBody>
      </p:sp>
      <p:sp>
        <p:nvSpPr>
          <p:cNvPr id="412" name="Text 410"/>
          <p:cNvSpPr/>
          <p:nvPr/>
        </p:nvSpPr>
        <p:spPr>
          <a:xfrm>
            <a:off x="3840480" y="112471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= one city block</a:t>
            </a:r>
            <a:endParaRPr lang="en-US" sz="1000" dirty="0"/>
          </a:p>
        </p:txBody>
      </p:sp>
      <p:sp>
        <p:nvSpPr>
          <p:cNvPr id="413" name="Shape 411"/>
          <p:cNvSpPr/>
          <p:nvPr/>
        </p:nvSpPr>
        <p:spPr>
          <a:xfrm>
            <a:off x="3749040" y="1527048"/>
            <a:ext cx="5120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Text 412"/>
          <p:cNvSpPr/>
          <p:nvPr/>
        </p:nvSpPr>
        <p:spPr>
          <a:xfrm>
            <a:off x="3840480" y="15270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200-300 agents</a:t>
            </a:r>
            <a:endParaRPr lang="en-US" sz="1100" dirty="0"/>
          </a:p>
        </p:txBody>
      </p:sp>
      <p:sp>
        <p:nvSpPr>
          <p:cNvPr id="415" name="Text 413"/>
          <p:cNvSpPr/>
          <p:nvPr/>
        </p:nvSpPr>
        <p:spPr>
          <a:xfrm>
            <a:off x="3840480" y="17830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commuters with fixed home ↔ work</a:t>
            </a:r>
            <a:endParaRPr lang="en-US" sz="1000" dirty="0"/>
          </a:p>
        </p:txBody>
      </p:sp>
      <p:sp>
        <p:nvSpPr>
          <p:cNvPr id="416" name="Shape 414"/>
          <p:cNvSpPr/>
          <p:nvPr/>
        </p:nvSpPr>
        <p:spPr>
          <a:xfrm>
            <a:off x="3749040" y="2185416"/>
            <a:ext cx="5120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Text 415"/>
          <p:cNvSpPr/>
          <p:nvPr/>
        </p:nvSpPr>
        <p:spPr>
          <a:xfrm>
            <a:off x="3840480" y="21854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split</a:t>
            </a:r>
            <a:endParaRPr lang="en-US" sz="1100" dirty="0"/>
          </a:p>
        </p:txBody>
      </p:sp>
      <p:sp>
        <p:nvSpPr>
          <p:cNvPr id="418" name="Text 416"/>
          <p:cNvSpPr/>
          <p:nvPr/>
        </p:nvSpPr>
        <p:spPr>
          <a:xfrm>
            <a:off x="3840480" y="244144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downtown (central r=4) vs. residential</a:t>
            </a:r>
            <a:endParaRPr lang="en-US" sz="1000" dirty="0"/>
          </a:p>
        </p:txBody>
      </p:sp>
      <p:sp>
        <p:nvSpPr>
          <p:cNvPr id="419" name="Shape 417"/>
          <p:cNvSpPr/>
          <p:nvPr/>
        </p:nvSpPr>
        <p:spPr>
          <a:xfrm>
            <a:off x="3749040" y="2843784"/>
            <a:ext cx="5120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Text 418"/>
          <p:cNvSpPr/>
          <p:nvPr/>
        </p:nvSpPr>
        <p:spPr>
          <a:xfrm>
            <a:off x="3840480" y="28437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placement (Home placement is same fraction reversed)</a:t>
            </a:r>
            <a:endParaRPr lang="en-US" sz="1100" dirty="0"/>
          </a:p>
        </p:txBody>
      </p:sp>
      <p:sp>
        <p:nvSpPr>
          <p:cNvPr id="421" name="Text 419"/>
          <p:cNvSpPr/>
          <p:nvPr/>
        </p:nvSpPr>
        <p:spPr>
          <a:xfrm>
            <a:off x="3840480" y="309981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downtown, 10% residential</a:t>
            </a:r>
            <a:endParaRPr lang="en-US" sz="1000" dirty="0"/>
          </a:p>
        </p:txBody>
      </p:sp>
      <p:sp>
        <p:nvSpPr>
          <p:cNvPr id="422" name="Shape 420"/>
          <p:cNvSpPr/>
          <p:nvPr/>
        </p:nvSpPr>
        <p:spPr>
          <a:xfrm>
            <a:off x="3749040" y="3502152"/>
            <a:ext cx="5120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Text 421"/>
          <p:cNvSpPr/>
          <p:nvPr/>
        </p:nvSpPr>
        <p:spPr>
          <a:xfrm>
            <a:off x="3840480" y="35021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path</a:t>
            </a:r>
            <a:endParaRPr lang="en-US" sz="1100" dirty="0"/>
          </a:p>
        </p:txBody>
      </p:sp>
      <p:sp>
        <p:nvSpPr>
          <p:cNvPr id="424" name="Text 422"/>
          <p:cNvSpPr/>
          <p:nvPr/>
        </p:nvSpPr>
        <p:spPr>
          <a:xfrm>
            <a:off x="3840480" y="375818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via Manhattan distance</a:t>
            </a:r>
            <a:endParaRPr lang="en-US" sz="1000" dirty="0"/>
          </a:p>
        </p:txBody>
      </p:sp>
      <p:sp>
        <p:nvSpPr>
          <p:cNvPr id="425" name="Shape 423"/>
          <p:cNvSpPr/>
          <p:nvPr/>
        </p:nvSpPr>
        <p:spPr>
          <a:xfrm>
            <a:off x="3749040" y="4160520"/>
            <a:ext cx="5120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Text 424"/>
          <p:cNvSpPr/>
          <p:nvPr/>
        </p:nvSpPr>
        <p:spPr>
          <a:xfrm>
            <a:off x="3840480" y="4160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layer</a:t>
            </a:r>
            <a:endParaRPr lang="en-US" sz="1100" dirty="0"/>
          </a:p>
        </p:txBody>
      </p:sp>
      <p:sp>
        <p:nvSpPr>
          <p:cNvPr id="427" name="Text 425"/>
          <p:cNvSpPr/>
          <p:nvPr/>
        </p:nvSpPr>
        <p:spPr>
          <a:xfrm>
            <a:off x="3840480" y="44165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property per cell; fixed at init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Decision Logic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176272" y="2286000"/>
            <a:ext cx="2743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79552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208" y="804672"/>
            <a:ext cx="1764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 difference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1828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bike and take a car depend on fixed cost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bike incorporates a safety bonus from lanes multiplied by lane coverage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of bike cost and car cost are computed</a:t>
            </a:r>
          </a:p>
          <a:p>
            <a:pPr marL="0" indent="0">
              <a:buNone/>
            </a:pPr>
            <a:endParaRPr lang="en-US" sz="1200" dirty="0">
              <a:solidFill>
                <a:srgbClr val="1E2D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52544" y="2286000"/>
            <a:ext cx="2743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50592" y="7772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50592" y="77724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23744" y="79552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06624" y="7955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neighbors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1325880"/>
            <a:ext cx="1828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neighborhood (r = 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D38"/>
                </a:solidFill>
                <a:latin typeface="Calibri" pitchFamily="34" charset="0"/>
                <a:cs typeface="Calibri" pitchFamily="34" charset="-120"/>
              </a:rPr>
              <a:t>Compute social influence = fraction of neighbors biking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28816" y="2286000"/>
            <a:ext cx="2743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6864" y="7772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26864" y="77724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0016" y="79552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82896" y="7955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probability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1325880"/>
            <a:ext cx="1828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probability_of_biking</a:t>
            </a:r>
            <a:r>
              <a:rPr lang="en-US" sz="12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logistic(</a:t>
            </a:r>
            <a:r>
              <a:rPr lang="en-US" sz="1200" dirty="0" err="1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cost_difference</a:t>
            </a:r>
            <a:r>
              <a:rPr lang="en-US" sz="12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200" dirty="0" err="1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social_influence</a:t>
            </a:r>
            <a:r>
              <a:rPr lang="en-US" sz="12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</a:p>
        </p:txBody>
      </p:sp>
      <p:sp>
        <p:nvSpPr>
          <p:cNvPr id="22" name="Shape 20"/>
          <p:cNvSpPr/>
          <p:nvPr/>
        </p:nvSpPr>
        <p:spPr>
          <a:xfrm>
            <a:off x="6803136" y="7772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03136" y="77724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76288" y="79552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77456" y="7955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choice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94576" y="1325880"/>
            <a:ext cx="1828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'bike' if probability of biking &gt; bike threshold, otherwise car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is a tunable parameter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&amp; Batch Design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45172"/>
              </p:ext>
            </p:extLst>
          </p:nvPr>
        </p:nvGraphicFramePr>
        <p:xfrm>
          <a:off x="320040" y="777240"/>
          <a:ext cx="8503920" cy="25237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coverage, fragmented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Scattered lanes, minimal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coverage, connected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comparison: smaller but coherent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coverage, fragmented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comparison: larger but scattered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coverage, connected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bound — max 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392424"/>
            <a:ext cx="8503920" cy="73152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502920" y="3438144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Core Test: </a:t>
            </a:r>
            <a:r>
              <a:rPr lang="en-US" sz="12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coverage connected vs. high coverage fragmented — does smaller connected network outperform larger fragmented network? </a:t>
            </a:r>
            <a:endParaRPr lang="en-US" sz="12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DFE25B6-EF4C-D619-A06E-D8140F59A199}"/>
              </a:ext>
            </a:extLst>
          </p:cNvPr>
          <p:cNvSpPr/>
          <p:nvPr/>
        </p:nvSpPr>
        <p:spPr>
          <a:xfrm>
            <a:off x="320040" y="4251960"/>
            <a:ext cx="8503920" cy="731520"/>
          </a:xfrm>
          <a:prstGeom prst="rect">
            <a:avLst/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6F39AD4-3FB1-F608-4F17-8ADDFCE978FA}"/>
              </a:ext>
            </a:extLst>
          </p:cNvPr>
          <p:cNvSpPr/>
          <p:nvPr/>
        </p:nvSpPr>
        <p:spPr>
          <a:xfrm>
            <a:off x="502920" y="42976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Core Test: </a:t>
            </a:r>
            <a:r>
              <a:rPr lang="en-US" sz="1200" dirty="0">
                <a:solidFill>
                  <a:srgbClr val="1E2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coverage connected vs. high coverage fragmented — does coverage still perform better than random placement?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354</Words>
  <Application>Microsoft Macintosh PowerPoint</Application>
  <PresentationFormat>On-screen Show (16:9)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Network Connectivity Matter More Than Coverage?</dc:title>
  <dc:subject>PptxGenJS Presentation</dc:subject>
  <dc:creator>PptxGenJS</dc:creator>
  <cp:lastModifiedBy>Begum Akkas</cp:lastModifiedBy>
  <cp:revision>7</cp:revision>
  <dcterms:created xsi:type="dcterms:W3CDTF">2026-05-19T15:39:38Z</dcterms:created>
  <dcterms:modified xsi:type="dcterms:W3CDTF">2026-05-19T16:25:24Z</dcterms:modified>
</cp:coreProperties>
</file>